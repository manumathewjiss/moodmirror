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elegraf 1" charset="1" panose="00000500000000000000"/>
      <p:regular r:id="rId17"/>
    </p:embeddedFont>
    <p:embeddedFont>
      <p:font typeface="Telegraf 1 Bold" charset="1" panose="00000800000000000000"/>
      <p:regular r:id="rId18"/>
    </p:embeddedFont>
    <p:embeddedFont>
      <p:font typeface="Anton" charset="1" panose="00000500000000000000"/>
      <p:regular r:id="rId19"/>
    </p:embeddedFont>
    <p:embeddedFont>
      <p:font typeface="Telegraf 2" charset="1" panose="00000500000000000000"/>
      <p:regular r:id="rId20"/>
    </p:embeddedFont>
    <p:embeddedFont>
      <p:font typeface="Telegraf 2 Bold" charset="1" panose="00000800000000000000"/>
      <p:regular r:id="rId21"/>
    </p:embeddedFont>
    <p:embeddedFont>
      <p:font typeface="Archivo Black" charset="1" panose="020B0A03020202020B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5555" t="0" r="5555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469165" y="1088808"/>
            <a:ext cx="4664407" cy="838400"/>
            <a:chOff x="0" y="0"/>
            <a:chExt cx="6219209" cy="11178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26861" cy="923490"/>
            </a:xfrm>
            <a:custGeom>
              <a:avLst/>
              <a:gdLst/>
              <a:ahLst/>
              <a:cxnLst/>
              <a:rect r="r" b="b" t="t" l="l"/>
              <a:pathLst>
                <a:path h="923490" w="926861">
                  <a:moveTo>
                    <a:pt x="0" y="0"/>
                  </a:moveTo>
                  <a:lnTo>
                    <a:pt x="926861" y="0"/>
                  </a:lnTo>
                  <a:lnTo>
                    <a:pt x="926861" y="923490"/>
                  </a:lnTo>
                  <a:lnTo>
                    <a:pt x="0" y="92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333348" y="-66974"/>
              <a:ext cx="4885861" cy="1184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60"/>
                </a:lnSpc>
              </a:pPr>
              <a:r>
                <a:rPr lang="en-US" sz="5114">
                  <a:solidFill>
                    <a:srgbClr val="FFFFFF"/>
                  </a:solidFill>
                  <a:latin typeface="Telegraf 1"/>
                  <a:ea typeface="Telegraf 1"/>
                  <a:cs typeface="Telegraf 1"/>
                  <a:sym typeface="Telegraf 1"/>
                </a:rPr>
                <a:t>MoodMirror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56252" y="2037319"/>
            <a:ext cx="6808912" cy="325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9"/>
              </a:lnSpc>
            </a:pPr>
            <a:r>
              <a:rPr lang="en-US" sz="766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Understanding Emotions Through NLP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9165" y="5823810"/>
            <a:ext cx="6808912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Natural Language Processing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9165" y="7141770"/>
            <a:ext cx="4245929" cy="44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D2BF5F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Presented By: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9165" y="7781538"/>
            <a:ext cx="7121825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Manu Mathew Jiss | | Darshana Prafulla Patil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9165" y="8420035"/>
            <a:ext cx="4245929" cy="44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D2BF5F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Date: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9165" y="8912161"/>
            <a:ext cx="4245929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4 Dec 2025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72059" y="3218419"/>
            <a:ext cx="6808912" cy="316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9"/>
              </a:lnSpc>
            </a:pPr>
            <a:r>
              <a:rPr lang="en-US" sz="766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 Step Toward Student Mental Well Being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9165" y="6287995"/>
            <a:ext cx="6808912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Dr. Pramod Gupta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85725"/>
          <a:ext cx="16189148" cy="942975"/>
        </p:xfrm>
        <a:graphic>
          <a:graphicData uri="http://schemas.openxmlformats.org/drawingml/2006/table">
            <a:tbl>
              <a:tblPr/>
              <a:tblGrid>
                <a:gridCol w="1176117"/>
                <a:gridCol w="15013031"/>
              </a:tblGrid>
              <a:tr h="872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Telegraf 2"/>
                          <a:ea typeface="Telegraf 2"/>
                          <a:cs typeface="Telegraf 2"/>
                          <a:sym typeface="Telegraf 2"/>
                        </a:rPr>
                        <a:t>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Telegraf 2 Bold"/>
                          <a:ea typeface="Telegraf 2 Bold"/>
                          <a:cs typeface="Telegraf 2 Bold"/>
                          <a:sym typeface="Telegraf 2 Bold"/>
                        </a:rPr>
                        <a:t>Why MoodMirror? The Problem &amp; Motivation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7353537" y="3487999"/>
            <a:ext cx="10761351" cy="4210379"/>
          </a:xfrm>
          <a:custGeom>
            <a:avLst/>
            <a:gdLst/>
            <a:ahLst/>
            <a:cxnLst/>
            <a:rect r="r" b="b" t="t" l="l"/>
            <a:pathLst>
              <a:path h="4210379" w="10761351">
                <a:moveTo>
                  <a:pt x="0" y="0"/>
                </a:moveTo>
                <a:lnTo>
                  <a:pt x="10761351" y="0"/>
                </a:lnTo>
                <a:lnTo>
                  <a:pt x="10761351" y="4210379"/>
                </a:lnTo>
                <a:lnTo>
                  <a:pt x="0" y="42103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7869" y="1234072"/>
            <a:ext cx="7383931" cy="8477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701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Problem Definition:</a:t>
            </a:r>
          </a:p>
          <a:p>
            <a:pPr algn="l">
              <a:lnSpc>
                <a:spcPts val="3512"/>
              </a:lnSpc>
            </a:pPr>
            <a:r>
              <a:rPr lang="en-US" sz="2701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 Classify emotional tone in short, informal comments written by Reddit users.</a:t>
            </a:r>
          </a:p>
          <a:p>
            <a:pPr algn="l">
              <a:lnSpc>
                <a:spcPts val="3512"/>
              </a:lnSpc>
            </a:pPr>
            <a:r>
              <a:rPr lang="en-US" sz="2701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 Use case: sentiment analysis, mental-wellness applications, and emotion-aware systems.</a:t>
            </a:r>
          </a:p>
          <a:p>
            <a:pPr algn="l">
              <a:lnSpc>
                <a:spcPts val="3512"/>
              </a:lnSpc>
            </a:pPr>
            <a:r>
              <a:rPr lang="en-US" sz="2701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GoEmotions Dataset:</a:t>
            </a:r>
          </a:p>
          <a:p>
            <a:pPr algn="l" marL="583319" indent="-291659" lvl="1">
              <a:lnSpc>
                <a:spcPts val="3512"/>
              </a:lnSpc>
              <a:buFont typeface="Arial"/>
              <a:buChar char="•"/>
            </a:pPr>
            <a:r>
              <a:rPr lang="en-US" sz="2701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Total samples: 54,263</a:t>
            </a:r>
          </a:p>
          <a:p>
            <a:pPr algn="l" marL="1166637" indent="-388879" lvl="2">
              <a:lnSpc>
                <a:spcPts val="3512"/>
              </a:lnSpc>
              <a:buFont typeface="Arial"/>
              <a:buChar char="⚬"/>
            </a:pPr>
            <a:r>
              <a:rPr lang="en-US" sz="2701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Train: 43,410</a:t>
            </a:r>
          </a:p>
          <a:p>
            <a:pPr algn="l" marL="1166637" indent="-388879" lvl="2">
              <a:lnSpc>
                <a:spcPts val="3512"/>
              </a:lnSpc>
              <a:buFont typeface="Arial"/>
              <a:buChar char="⚬"/>
            </a:pPr>
            <a:r>
              <a:rPr lang="en-US" sz="2701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Validation: 5,426</a:t>
            </a:r>
          </a:p>
          <a:p>
            <a:pPr algn="l" marL="1166637" indent="-388879" lvl="2">
              <a:lnSpc>
                <a:spcPts val="3512"/>
              </a:lnSpc>
              <a:buFont typeface="Arial"/>
              <a:buChar char="⚬"/>
            </a:pPr>
            <a:r>
              <a:rPr lang="en-US" sz="2701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Test: 5,427</a:t>
            </a:r>
          </a:p>
          <a:p>
            <a:pPr algn="l" marL="583319" indent="-291659" lvl="1">
              <a:lnSpc>
                <a:spcPts val="3512"/>
              </a:lnSpc>
              <a:buFont typeface="Arial"/>
              <a:buChar char="•"/>
            </a:pPr>
            <a:r>
              <a:rPr lang="en-US" sz="2701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Content characteristics:</a:t>
            </a:r>
          </a:p>
          <a:p>
            <a:pPr algn="l" marL="1166637" indent="-388879" lvl="2">
              <a:lnSpc>
                <a:spcPts val="3512"/>
              </a:lnSpc>
              <a:buFont typeface="Arial"/>
              <a:buChar char="⚬"/>
            </a:pPr>
            <a:r>
              <a:rPr lang="en-US" sz="2701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Avg length: ~68 </a:t>
            </a:r>
            <a:r>
              <a:rPr lang="en-US" sz="2701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characters</a:t>
            </a:r>
          </a:p>
          <a:p>
            <a:pPr algn="l" marL="1166637" indent="-388879" lvl="2">
              <a:lnSpc>
                <a:spcPts val="3512"/>
              </a:lnSpc>
              <a:buFont typeface="Arial"/>
              <a:buChar char="⚬"/>
            </a:pPr>
            <a:r>
              <a:rPr lang="en-US" sz="2701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Avg tokens: ~12.8 words</a:t>
            </a:r>
          </a:p>
          <a:p>
            <a:pPr algn="l" marL="583319" indent="-291659" lvl="1">
              <a:lnSpc>
                <a:spcPts val="3512"/>
              </a:lnSpc>
              <a:buFont typeface="Arial"/>
              <a:buChar char="•"/>
            </a:pPr>
            <a:r>
              <a:rPr lang="en-US" sz="2701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Original labeling: Multi-label, 27 emotions</a:t>
            </a:r>
          </a:p>
          <a:p>
            <a:pPr algn="l" marL="583319" indent="-291659" lvl="1">
              <a:lnSpc>
                <a:spcPts val="3512"/>
              </a:lnSpc>
              <a:buFont typeface="Arial"/>
              <a:buChar char="•"/>
            </a:pPr>
            <a:r>
              <a:rPr lang="en-US" sz="2701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Ou</a:t>
            </a:r>
            <a:r>
              <a:rPr lang="en-US" sz="2701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 reduction: Converted to a single-label 7-class dataset</a:t>
            </a:r>
          </a:p>
          <a:p>
            <a:pPr algn="l" marL="583319" indent="-291659" lvl="1">
              <a:lnSpc>
                <a:spcPts val="3512"/>
              </a:lnSpc>
              <a:buFont typeface="Arial"/>
              <a:buChar char="•"/>
            </a:pPr>
            <a:r>
              <a:rPr lang="en-US" sz="2701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Dataset challenge: Severe imbalance (~40:1 between largest &amp; smallest classes)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49426" y="265974"/>
          <a:ext cx="16189148" cy="942975"/>
        </p:xfrm>
        <a:graphic>
          <a:graphicData uri="http://schemas.openxmlformats.org/drawingml/2006/table">
            <a:tbl>
              <a:tblPr/>
              <a:tblGrid>
                <a:gridCol w="1176117"/>
                <a:gridCol w="15013031"/>
              </a:tblGrid>
              <a:tr h="872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Telegraf 2"/>
                          <a:ea typeface="Telegraf 2"/>
                          <a:cs typeface="Telegraf 2"/>
                          <a:sym typeface="Telegraf 2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Telegraf 2 Bold"/>
                          <a:ea typeface="Telegraf 2 Bold"/>
                          <a:cs typeface="Telegraf 2 Bold"/>
                          <a:sym typeface="Telegraf 2 Bold"/>
                        </a:rPr>
                        <a:t>Preparing the Data — Cleaning the Raw Emotion World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7842051" y="3445365"/>
            <a:ext cx="10445949" cy="3664787"/>
          </a:xfrm>
          <a:custGeom>
            <a:avLst/>
            <a:gdLst/>
            <a:ahLst/>
            <a:cxnLst/>
            <a:rect r="r" b="b" t="t" l="l"/>
            <a:pathLst>
              <a:path h="3664787" w="10445949">
                <a:moveTo>
                  <a:pt x="0" y="0"/>
                </a:moveTo>
                <a:lnTo>
                  <a:pt x="10445949" y="0"/>
                </a:lnTo>
                <a:lnTo>
                  <a:pt x="10445949" y="3664787"/>
                </a:lnTo>
                <a:lnTo>
                  <a:pt x="0" y="3664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161324"/>
            <a:ext cx="8547893" cy="930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4"/>
              </a:lnSpc>
            </a:pP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Preprocessing Steps:</a:t>
            </a:r>
          </a:p>
          <a:p>
            <a:pPr algn="l" marL="487319" indent="-243659" lvl="1">
              <a:lnSpc>
                <a:spcPts val="2934"/>
              </a:lnSpc>
              <a:buAutoNum type="arabicPeriod" startAt="1"/>
            </a:pP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T</a:t>
            </a: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ext Normalization</a:t>
            </a:r>
          </a:p>
          <a:p>
            <a:pPr algn="l" marL="974637" indent="-324879" lvl="2">
              <a:lnSpc>
                <a:spcPts val="2934"/>
              </a:lnSpc>
              <a:buFont typeface="Arial"/>
              <a:buChar char="⚬"/>
            </a:pP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Lowercasing</a:t>
            </a:r>
          </a:p>
          <a:p>
            <a:pPr algn="l" marL="974637" indent="-324879" lvl="2">
              <a:lnSpc>
                <a:spcPts val="2934"/>
              </a:lnSpc>
              <a:buFont typeface="Arial"/>
              <a:buChar char="⚬"/>
            </a:pP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Remove URLs and HTML tags</a:t>
            </a:r>
          </a:p>
          <a:p>
            <a:pPr algn="l" marL="487319" indent="-243659" lvl="1">
              <a:lnSpc>
                <a:spcPts val="2934"/>
              </a:lnSpc>
              <a:buAutoNum type="arabicPeriod" startAt="1"/>
            </a:pP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Reddit-Specific Cleaning</a:t>
            </a:r>
          </a:p>
          <a:p>
            <a:pPr algn="l" marL="974637" indent="-324879" lvl="2">
              <a:lnSpc>
                <a:spcPts val="2934"/>
              </a:lnSpc>
              <a:buFont typeface="Arial"/>
              <a:buChar char="⚬"/>
            </a:pP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Remov</a:t>
            </a: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e patterns like [NAME], r/subreddit, emails, and @mentions</a:t>
            </a:r>
          </a:p>
          <a:p>
            <a:pPr algn="l" marL="974637" indent="-324879" lvl="2">
              <a:lnSpc>
                <a:spcPts val="2934"/>
              </a:lnSpc>
              <a:buFont typeface="Arial"/>
              <a:buChar char="⚬"/>
            </a:pP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Strip hashtags but keep the word</a:t>
            </a:r>
          </a:p>
          <a:p>
            <a:pPr algn="l" marL="487319" indent="-243659" lvl="1">
              <a:lnSpc>
                <a:spcPts val="2934"/>
              </a:lnSpc>
              <a:buAutoNum type="arabicPeriod" startAt="1"/>
            </a:pP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Emoji &amp; Character Cleanup</a:t>
            </a:r>
          </a:p>
          <a:p>
            <a:pPr algn="l" marL="974637" indent="-324879" lvl="2">
              <a:lnSpc>
                <a:spcPts val="2934"/>
              </a:lnSpc>
              <a:buFont typeface="Arial"/>
              <a:buChar char="⚬"/>
            </a:pP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Remove all emojis, skin-tone modifiers, and special Unicode characters</a:t>
            </a:r>
          </a:p>
          <a:p>
            <a:pPr algn="l" marL="974637" indent="-324879" lvl="2">
              <a:lnSpc>
                <a:spcPts val="2934"/>
              </a:lnSpc>
              <a:buFont typeface="Arial"/>
              <a:buChar char="⚬"/>
            </a:pP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Keep meaningful punctuation</a:t>
            </a:r>
          </a:p>
          <a:p>
            <a:pPr algn="l" marL="487319" indent="-243659" lvl="1">
              <a:lnSpc>
                <a:spcPts val="2934"/>
              </a:lnSpc>
              <a:buAutoNum type="arabicPeriod" startAt="1"/>
            </a:pP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Pun</a:t>
            </a: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ctuation Handling</a:t>
            </a:r>
          </a:p>
          <a:p>
            <a:pPr algn="l" marL="974637" indent="-324879" lvl="2">
              <a:lnSpc>
                <a:spcPts val="2934"/>
              </a:lnSpc>
              <a:buFont typeface="Arial"/>
              <a:buChar char="⚬"/>
            </a:pP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Reduce repeated punctuation (!!! → !, --- → -)</a:t>
            </a:r>
          </a:p>
          <a:p>
            <a:pPr algn="l" marL="974637" indent="-324879" lvl="2">
              <a:lnSpc>
                <a:spcPts val="2934"/>
              </a:lnSpc>
              <a:buFont typeface="Arial"/>
              <a:buChar char="⚬"/>
            </a:pP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Preserve e</a:t>
            </a: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motion-related symbols (!, ?, quotes, parentheses, etc.)</a:t>
            </a:r>
          </a:p>
          <a:p>
            <a:pPr algn="l" marL="487319" indent="-243659" lvl="1">
              <a:lnSpc>
                <a:spcPts val="2934"/>
              </a:lnSpc>
              <a:buAutoNum type="arabicPeriod" startAt="1"/>
            </a:pP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Final Cleaning &amp; Filtering</a:t>
            </a:r>
          </a:p>
          <a:p>
            <a:pPr algn="l" marL="974637" indent="-324879" lvl="2">
              <a:lnSpc>
                <a:spcPts val="2934"/>
              </a:lnSpc>
              <a:buFont typeface="Arial"/>
              <a:buChar char="⚬"/>
            </a:pP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Normalize extra spaces</a:t>
            </a:r>
          </a:p>
          <a:p>
            <a:pPr algn="l" marL="974637" indent="-324879" lvl="2">
              <a:lnSpc>
                <a:spcPts val="2934"/>
              </a:lnSpc>
              <a:buFont typeface="Arial"/>
              <a:buChar char="⚬"/>
            </a:pP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Remove extremely short texts (&lt;3 characters)</a:t>
            </a:r>
          </a:p>
          <a:p>
            <a:pPr algn="l" marL="974637" indent="-324879" lvl="2">
              <a:lnSpc>
                <a:spcPts val="2934"/>
              </a:lnSpc>
              <a:buFont typeface="Arial"/>
              <a:buChar char="⚬"/>
            </a:pP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Removed 56 samples total</a:t>
            </a:r>
          </a:p>
          <a:p>
            <a:pPr algn="l">
              <a:lnSpc>
                <a:spcPts val="2934"/>
              </a:lnSpc>
            </a:pP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Outcome:</a:t>
            </a:r>
          </a:p>
          <a:p>
            <a:pPr algn="l" marL="487319" indent="-243659" lvl="1">
              <a:lnSpc>
                <a:spcPts val="2934"/>
              </a:lnSpc>
              <a:buFont typeface="Arial"/>
              <a:buChar char="•"/>
            </a:pP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Final</a:t>
            </a: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 dataset: 54,207 samples</a:t>
            </a:r>
          </a:p>
          <a:p>
            <a:pPr algn="l" marL="487319" indent="-243659" lvl="1">
              <a:lnSpc>
                <a:spcPts val="2934"/>
              </a:lnSpc>
              <a:buFont typeface="Arial"/>
              <a:buChar char="•"/>
            </a:pP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Clean, consistent text suitable for transformer tokenization</a:t>
            </a:r>
          </a:p>
          <a:p>
            <a:pPr algn="l" marL="487319" indent="-243659" lvl="1">
              <a:lnSpc>
                <a:spcPts val="2934"/>
              </a:lnSpc>
              <a:buFont typeface="Arial"/>
              <a:buChar char="•"/>
            </a:pPr>
            <a:r>
              <a:rPr lang="en-US" sz="2257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Avg length: [Insert: 66 chars, 12.6 words]</a:t>
            </a:r>
          </a:p>
          <a:p>
            <a:pPr algn="l">
              <a:lnSpc>
                <a:spcPts val="293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85725"/>
          <a:ext cx="8346763" cy="942975"/>
        </p:xfrm>
        <a:graphic>
          <a:graphicData uri="http://schemas.openxmlformats.org/drawingml/2006/table">
            <a:tbl>
              <a:tblPr/>
              <a:tblGrid>
                <a:gridCol w="1179386"/>
                <a:gridCol w="7167377"/>
              </a:tblGrid>
              <a:tr h="872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Telegraf 2"/>
                          <a:ea typeface="Telegraf 2"/>
                          <a:cs typeface="Telegraf 2"/>
                          <a:sym typeface="Telegraf 2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Telegraf 2 Bold"/>
                          <a:ea typeface="Telegraf 2 Bold"/>
                          <a:cs typeface="Telegraf 2 Bold"/>
                          <a:sym typeface="Telegraf 2 Bold"/>
                        </a:rPr>
                        <a:t>Starting Small — The Baseline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9995616" y="85725"/>
            <a:ext cx="6697790" cy="5707075"/>
          </a:xfrm>
          <a:custGeom>
            <a:avLst/>
            <a:gdLst/>
            <a:ahLst/>
            <a:cxnLst/>
            <a:rect r="r" b="b" t="t" l="l"/>
            <a:pathLst>
              <a:path h="5707075" w="6697790">
                <a:moveTo>
                  <a:pt x="0" y="0"/>
                </a:moveTo>
                <a:lnTo>
                  <a:pt x="6697789" y="0"/>
                </a:lnTo>
                <a:lnTo>
                  <a:pt x="6697789" y="5707075"/>
                </a:lnTo>
                <a:lnTo>
                  <a:pt x="0" y="5707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77676" y="5880324"/>
            <a:ext cx="7071338" cy="4285483"/>
          </a:xfrm>
          <a:custGeom>
            <a:avLst/>
            <a:gdLst/>
            <a:ahLst/>
            <a:cxnLst/>
            <a:rect r="r" b="b" t="t" l="l"/>
            <a:pathLst>
              <a:path h="4285483" w="7071338">
                <a:moveTo>
                  <a:pt x="0" y="0"/>
                </a:moveTo>
                <a:lnTo>
                  <a:pt x="7071338" y="0"/>
                </a:lnTo>
                <a:lnTo>
                  <a:pt x="7071338" y="4285484"/>
                </a:lnTo>
                <a:lnTo>
                  <a:pt x="0" y="4285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02" r="0" b="-100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4458" y="1487747"/>
            <a:ext cx="7001957" cy="871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4"/>
              </a:lnSpc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Setup:</a:t>
            </a:r>
          </a:p>
          <a:p>
            <a:pPr algn="l" marL="633482" indent="-316741" lvl="1">
              <a:lnSpc>
                <a:spcPts val="3814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Vectoriz</a:t>
            </a: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ation: TF-IDF (unigrams + bigrams)</a:t>
            </a:r>
          </a:p>
          <a:p>
            <a:pPr algn="l" marL="633482" indent="-316741" lvl="1">
              <a:lnSpc>
                <a:spcPts val="3814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Ba</a:t>
            </a: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lanced dataset: Oversampling &amp; undersampling → ~6,194 samples/class</a:t>
            </a:r>
          </a:p>
          <a:p>
            <a:pPr algn="l" marL="633482" indent="-316741" lvl="1">
              <a:lnSpc>
                <a:spcPts val="3814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Total balanced training samples: 43,358</a:t>
            </a:r>
          </a:p>
          <a:p>
            <a:pPr algn="l">
              <a:lnSpc>
                <a:spcPts val="3814"/>
              </a:lnSpc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Results (7-class):</a:t>
            </a:r>
          </a:p>
          <a:p>
            <a:pPr algn="l" marL="633482" indent="-316741" lvl="1">
              <a:lnSpc>
                <a:spcPts val="3814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Accuracy: 53.66%</a:t>
            </a:r>
          </a:p>
          <a:p>
            <a:pPr algn="l" marL="633482" indent="-316741" lvl="1">
              <a:lnSpc>
                <a:spcPts val="3814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Precision: 61.79%</a:t>
            </a:r>
          </a:p>
          <a:p>
            <a:pPr algn="l" marL="633482" indent="-316741" lvl="1">
              <a:lnSpc>
                <a:spcPts val="3814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</a:t>
            </a: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ecall: 53.66%</a:t>
            </a:r>
          </a:p>
          <a:p>
            <a:pPr algn="l" marL="633482" indent="-316741" lvl="1">
              <a:lnSpc>
                <a:spcPts val="3814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F1-score: 55.56%</a:t>
            </a:r>
          </a:p>
          <a:p>
            <a:pPr algn="l">
              <a:lnSpc>
                <a:spcPts val="3814"/>
              </a:lnSpc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Interpretation:</a:t>
            </a:r>
          </a:p>
          <a:p>
            <a:pPr algn="l">
              <a:lnSpc>
                <a:spcPts val="3814"/>
              </a:lnSpc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 The model struggled with overlapping emotional categories; lexical features were insufficient.</a:t>
            </a:r>
          </a:p>
          <a:p>
            <a:pPr algn="l">
              <a:lnSpc>
                <a:spcPts val="381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85725"/>
          <a:ext cx="8346763" cy="942975"/>
        </p:xfrm>
        <a:graphic>
          <a:graphicData uri="http://schemas.openxmlformats.org/drawingml/2006/table">
            <a:tbl>
              <a:tblPr/>
              <a:tblGrid>
                <a:gridCol w="1179386"/>
                <a:gridCol w="7167377"/>
              </a:tblGrid>
              <a:tr h="872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Telegraf 2"/>
                          <a:ea typeface="Telegraf 2"/>
                          <a:cs typeface="Telegraf 2"/>
                          <a:sym typeface="Telegraf 2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Telegraf 2 Bold"/>
                          <a:ea typeface="Telegraf 2 Bold"/>
                          <a:cs typeface="Telegraf 2 Bold"/>
                          <a:sym typeface="Telegraf 2 Bold"/>
                        </a:rPr>
                        <a:t>Enter Transformers — DistilBERT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8567631" y="1564596"/>
            <a:ext cx="9381547" cy="7669414"/>
          </a:xfrm>
          <a:custGeom>
            <a:avLst/>
            <a:gdLst/>
            <a:ahLst/>
            <a:cxnLst/>
            <a:rect r="r" b="b" t="t" l="l"/>
            <a:pathLst>
              <a:path h="7669414" w="9381547">
                <a:moveTo>
                  <a:pt x="0" y="0"/>
                </a:moveTo>
                <a:lnTo>
                  <a:pt x="9381546" y="0"/>
                </a:lnTo>
                <a:lnTo>
                  <a:pt x="9381546" y="7669415"/>
                </a:lnTo>
                <a:lnTo>
                  <a:pt x="0" y="76694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0000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5344" y="1497921"/>
            <a:ext cx="7001957" cy="9201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4"/>
              </a:lnSpc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Mod</a:t>
            </a: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el Details:</a:t>
            </a:r>
          </a:p>
          <a:p>
            <a:pPr algn="l" marL="633482" indent="-316741" lvl="1">
              <a:lnSpc>
                <a:spcPts val="3814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Bas</a:t>
            </a: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e: distilbert-base-uncased</a:t>
            </a:r>
          </a:p>
          <a:p>
            <a:pPr algn="l" marL="633482" indent="-316741" lvl="1">
              <a:lnSpc>
                <a:spcPts val="3814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Parameters: ~66M</a:t>
            </a:r>
          </a:p>
          <a:p>
            <a:pPr algn="l" marL="633482" indent="-316741" lvl="1">
              <a:lnSpc>
                <a:spcPts val="3814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Tokenizer: WordPiece, max length 512</a:t>
            </a:r>
          </a:p>
          <a:p>
            <a:pPr algn="l" marL="633482" indent="-316741" lvl="1">
              <a:lnSpc>
                <a:spcPts val="3814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Training: ~3 epochs, balanced dataset, AdamW optimizer</a:t>
            </a:r>
          </a:p>
          <a:p>
            <a:pPr algn="l">
              <a:lnSpc>
                <a:spcPts val="3814"/>
              </a:lnSpc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Results:</a:t>
            </a:r>
          </a:p>
          <a:p>
            <a:pPr algn="l" marL="633482" indent="-316741" lvl="1">
              <a:lnSpc>
                <a:spcPts val="3814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Accuracy: 63.06%</a:t>
            </a:r>
          </a:p>
          <a:p>
            <a:pPr algn="l" marL="633482" indent="-316741" lvl="1">
              <a:lnSpc>
                <a:spcPts val="3814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Precis</a:t>
            </a: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ion: 67.42%</a:t>
            </a:r>
          </a:p>
          <a:p>
            <a:pPr algn="l" marL="633482" indent="-316741" lvl="1">
              <a:lnSpc>
                <a:spcPts val="3814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Recall: 63.06%</a:t>
            </a:r>
          </a:p>
          <a:p>
            <a:pPr algn="l" marL="633482" indent="-316741" lvl="1">
              <a:lnSpc>
                <a:spcPts val="3814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F1-score: 64.06%</a:t>
            </a:r>
          </a:p>
          <a:p>
            <a:pPr algn="l">
              <a:lnSpc>
                <a:spcPts val="3814"/>
              </a:lnSpc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Improvement:</a:t>
            </a:r>
          </a:p>
          <a:p>
            <a:pPr algn="l" marL="633482" indent="-316741" lvl="1">
              <a:lnSpc>
                <a:spcPts val="3814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+9.4 percentage points over the baseline</a:t>
            </a:r>
          </a:p>
          <a:p>
            <a:pPr algn="l" marL="633482" indent="-316741" lvl="1">
              <a:lnSpc>
                <a:spcPts val="3814"/>
              </a:lnSpc>
              <a:buFont typeface="Arial"/>
              <a:buChar char="•"/>
            </a:pP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Cap</a:t>
            </a:r>
            <a:r>
              <a:rPr lang="en-US" sz="2934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tures semantic &amp; contextual cues better than TF-IDF</a:t>
            </a:r>
          </a:p>
          <a:p>
            <a:pPr algn="l">
              <a:lnSpc>
                <a:spcPts val="3814"/>
              </a:lnSpc>
            </a:pPr>
          </a:p>
          <a:p>
            <a:pPr algn="l">
              <a:lnSpc>
                <a:spcPts val="381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85725"/>
          <a:ext cx="10576269" cy="942975"/>
        </p:xfrm>
        <a:graphic>
          <a:graphicData uri="http://schemas.openxmlformats.org/drawingml/2006/table">
            <a:tbl>
              <a:tblPr/>
              <a:tblGrid>
                <a:gridCol w="1177961"/>
                <a:gridCol w="9398308"/>
              </a:tblGrid>
              <a:tr h="872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Telegraf 2"/>
                          <a:ea typeface="Telegraf 2"/>
                          <a:cs typeface="Telegraf 2"/>
                          <a:sym typeface="Telegraf 2"/>
                        </a:rPr>
                        <a:t>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Telegraf 2 Bold"/>
                          <a:ea typeface="Telegraf 2 Bold"/>
                          <a:cs typeface="Telegraf 2 Bold"/>
                          <a:sym typeface="Telegraf 2 Bold"/>
                        </a:rPr>
                        <a:t>RoBERTa — Stronger, but Still Challenged by 7 Classes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8244375" y="1252703"/>
            <a:ext cx="9792779" cy="8005597"/>
          </a:xfrm>
          <a:custGeom>
            <a:avLst/>
            <a:gdLst/>
            <a:ahLst/>
            <a:cxnLst/>
            <a:rect r="r" b="b" t="t" l="l"/>
            <a:pathLst>
              <a:path h="8005597" w="9792779">
                <a:moveTo>
                  <a:pt x="0" y="0"/>
                </a:moveTo>
                <a:lnTo>
                  <a:pt x="9792779" y="0"/>
                </a:lnTo>
                <a:lnTo>
                  <a:pt x="9792779" y="8005597"/>
                </a:lnTo>
                <a:lnTo>
                  <a:pt x="0" y="80055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0000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8444" y="1108449"/>
            <a:ext cx="7910626" cy="9530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Mod</a:t>
            </a: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el Details:</a:t>
            </a:r>
          </a:p>
          <a:p>
            <a:pPr algn="l" marL="656972" indent="-328486" lvl="1">
              <a:lnSpc>
                <a:spcPts val="3955"/>
              </a:lnSpc>
              <a:buFont typeface="Arial"/>
              <a:buChar char="•"/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Bas</a:t>
            </a: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e: roberta-base</a:t>
            </a:r>
          </a:p>
          <a:p>
            <a:pPr algn="l" marL="656972" indent="-328486" lvl="1">
              <a:lnSpc>
                <a:spcPts val="3955"/>
              </a:lnSpc>
              <a:buFont typeface="Arial"/>
              <a:buChar char="•"/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Parameters: ~125M</a:t>
            </a:r>
          </a:p>
          <a:p>
            <a:pPr algn="l" marL="656972" indent="-328486" lvl="1">
              <a:lnSpc>
                <a:spcPts val="3955"/>
              </a:lnSpc>
              <a:buFont typeface="Arial"/>
              <a:buChar char="•"/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Str</a:t>
            </a: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engths: Dynamic masking, large training corpus, strong contextual encoding</a:t>
            </a:r>
          </a:p>
          <a:p>
            <a:pPr algn="l">
              <a:lnSpc>
                <a:spcPts val="3955"/>
              </a:lnSpc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Results:</a:t>
            </a:r>
          </a:p>
          <a:p>
            <a:pPr algn="l" marL="656972" indent="-328486" lvl="1">
              <a:lnSpc>
                <a:spcPts val="3955"/>
              </a:lnSpc>
              <a:buFont typeface="Arial"/>
              <a:buChar char="•"/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Accuracy: 57.94%</a:t>
            </a:r>
          </a:p>
          <a:p>
            <a:pPr algn="l" marL="656972" indent="-328486" lvl="1">
              <a:lnSpc>
                <a:spcPts val="3955"/>
              </a:lnSpc>
              <a:buFont typeface="Arial"/>
              <a:buChar char="•"/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Precis</a:t>
            </a: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ion: 68.29%</a:t>
            </a:r>
          </a:p>
          <a:p>
            <a:pPr algn="l" marL="656972" indent="-328486" lvl="1">
              <a:lnSpc>
                <a:spcPts val="3955"/>
              </a:lnSpc>
              <a:buFont typeface="Arial"/>
              <a:buChar char="•"/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Recall: 57.94%</a:t>
            </a:r>
          </a:p>
          <a:p>
            <a:pPr algn="l" marL="656972" indent="-328486" lvl="1">
              <a:lnSpc>
                <a:spcPts val="3955"/>
              </a:lnSpc>
              <a:buFont typeface="Arial"/>
              <a:buChar char="•"/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F1-score: 59.68%</a:t>
            </a:r>
          </a:p>
          <a:p>
            <a:pPr algn="l">
              <a:lnSpc>
                <a:spcPts val="3955"/>
              </a:lnSpc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Interpretation:</a:t>
            </a:r>
          </a:p>
          <a:p>
            <a:pPr algn="l" marL="656972" indent="-328486" lvl="1">
              <a:lnSpc>
                <a:spcPts val="3955"/>
              </a:lnSpc>
              <a:buFont typeface="Arial"/>
              <a:buChar char="•"/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Higher</a:t>
            </a: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 precision → confident when predicting</a:t>
            </a:r>
          </a:p>
          <a:p>
            <a:pPr algn="l" marL="656972" indent="-328486" lvl="1">
              <a:lnSpc>
                <a:spcPts val="3955"/>
              </a:lnSpc>
              <a:buFont typeface="Arial"/>
              <a:buChar char="•"/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Lower recall → struggles to generalize across 7 granular classes</a:t>
            </a:r>
          </a:p>
          <a:p>
            <a:pPr algn="l" marL="656972" indent="-328486" lvl="1">
              <a:lnSpc>
                <a:spcPts val="3955"/>
              </a:lnSpc>
              <a:buFont typeface="Arial"/>
              <a:buChar char="•"/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Indicates label complexity is a bigger issue than model architecture</a:t>
            </a:r>
          </a:p>
          <a:p>
            <a:pPr algn="l">
              <a:lnSpc>
                <a:spcPts val="395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85725"/>
          <a:ext cx="10361141" cy="942975"/>
        </p:xfrm>
        <a:graphic>
          <a:graphicData uri="http://schemas.openxmlformats.org/drawingml/2006/table">
            <a:tbl>
              <a:tblPr/>
              <a:tblGrid>
                <a:gridCol w="1178072"/>
                <a:gridCol w="9183069"/>
              </a:tblGrid>
              <a:tr h="872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Telegraf 2"/>
                          <a:ea typeface="Telegraf 2"/>
                          <a:cs typeface="Telegraf 2"/>
                          <a:sym typeface="Telegraf 2"/>
                        </a:rPr>
                        <a:t>07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Telegraf 2 Bold"/>
                          <a:ea typeface="Telegraf 2 Bold"/>
                          <a:cs typeface="Telegraf 2 Bold"/>
                          <a:sym typeface="Telegraf 2 Bold"/>
                        </a:rPr>
                        <a:t>The Pivot — Reducing to 3 Core Emotions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8086999" y="1165599"/>
            <a:ext cx="10032813" cy="3854272"/>
          </a:xfrm>
          <a:custGeom>
            <a:avLst/>
            <a:gdLst/>
            <a:ahLst/>
            <a:cxnLst/>
            <a:rect r="r" b="b" t="t" l="l"/>
            <a:pathLst>
              <a:path h="3854272" w="10032813">
                <a:moveTo>
                  <a:pt x="0" y="0"/>
                </a:moveTo>
                <a:lnTo>
                  <a:pt x="10032812" y="0"/>
                </a:lnTo>
                <a:lnTo>
                  <a:pt x="10032812" y="3854273"/>
                </a:lnTo>
                <a:lnTo>
                  <a:pt x="0" y="38542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32757" y="5255501"/>
            <a:ext cx="10010233" cy="4934211"/>
          </a:xfrm>
          <a:custGeom>
            <a:avLst/>
            <a:gdLst/>
            <a:ahLst/>
            <a:cxnLst/>
            <a:rect r="r" b="b" t="t" l="l"/>
            <a:pathLst>
              <a:path h="4934211" w="10010233">
                <a:moveTo>
                  <a:pt x="0" y="0"/>
                </a:moveTo>
                <a:lnTo>
                  <a:pt x="10010233" y="0"/>
                </a:lnTo>
                <a:lnTo>
                  <a:pt x="10010233" y="4934211"/>
                </a:lnTo>
                <a:lnTo>
                  <a:pt x="0" y="493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3749" y="2213920"/>
            <a:ext cx="7910626" cy="6026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Mo</a:t>
            </a: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tivation:</a:t>
            </a:r>
          </a:p>
          <a:p>
            <a:pPr algn="l">
              <a:lnSpc>
                <a:spcPts val="3955"/>
              </a:lnSpc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 7-class syst</a:t>
            </a: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em was too fine-grained: emotional boundaries ove</a:t>
            </a: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rlapp</a:t>
            </a: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ed heavily.</a:t>
            </a:r>
          </a:p>
          <a:p>
            <a:pPr algn="l">
              <a:lnSpc>
                <a:spcPts val="3955"/>
              </a:lnSpc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New Class Mapping:</a:t>
            </a:r>
          </a:p>
          <a:p>
            <a:pPr algn="l" marL="656972" indent="-328486" lvl="1">
              <a:lnSpc>
                <a:spcPts val="3955"/>
              </a:lnSpc>
              <a:buFont typeface="Arial"/>
              <a:buChar char="•"/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Positive: Joy, Surprise</a:t>
            </a:r>
          </a:p>
          <a:p>
            <a:pPr algn="l" marL="656972" indent="-328486" lvl="1">
              <a:lnSpc>
                <a:spcPts val="3955"/>
              </a:lnSpc>
              <a:buFont typeface="Arial"/>
              <a:buChar char="•"/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Negative: Anger, Disgust, Fear, Sadness</a:t>
            </a:r>
          </a:p>
          <a:p>
            <a:pPr algn="l" marL="656972" indent="-328486" lvl="1">
              <a:lnSpc>
                <a:spcPts val="3955"/>
              </a:lnSpc>
              <a:buFont typeface="Arial"/>
              <a:buChar char="•"/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Ne</a:t>
            </a: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utral: Neutral</a:t>
            </a:r>
          </a:p>
          <a:p>
            <a:pPr algn="l">
              <a:lnSpc>
                <a:spcPts val="3955"/>
              </a:lnSpc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Process</a:t>
            </a: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ing:</a:t>
            </a:r>
          </a:p>
          <a:p>
            <a:pPr algn="l" marL="656972" indent="-328486" lvl="1">
              <a:lnSpc>
                <a:spcPts val="3955"/>
              </a:lnSpc>
              <a:buFont typeface="Arial"/>
              <a:buChar char="•"/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Re-labeled entire dataset</a:t>
            </a:r>
          </a:p>
          <a:p>
            <a:pPr algn="l" marL="656972" indent="-328486" lvl="1">
              <a:lnSpc>
                <a:spcPts val="3955"/>
              </a:lnSpc>
              <a:buFont typeface="Arial"/>
              <a:buChar char="•"/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P</a:t>
            </a: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reserved all preprocessing steps</a:t>
            </a:r>
          </a:p>
          <a:p>
            <a:pPr algn="l" marL="656972" indent="-328486" lvl="1">
              <a:lnSpc>
                <a:spcPts val="3955"/>
              </a:lnSpc>
              <a:buFont typeface="Arial"/>
              <a:buChar char="•"/>
            </a:pP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</a:t>
            </a:r>
            <a:r>
              <a:rPr lang="en-US" sz="3042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ebalanced dataset across 3 classes</a:t>
            </a:r>
          </a:p>
          <a:p>
            <a:pPr algn="l">
              <a:lnSpc>
                <a:spcPts val="395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85725"/>
          <a:ext cx="8346763" cy="942975"/>
        </p:xfrm>
        <a:graphic>
          <a:graphicData uri="http://schemas.openxmlformats.org/drawingml/2006/table">
            <a:tbl>
              <a:tblPr/>
              <a:tblGrid>
                <a:gridCol w="1179386"/>
                <a:gridCol w="7167377"/>
              </a:tblGrid>
              <a:tr h="872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Telegraf 2"/>
                          <a:ea typeface="Telegraf 2"/>
                          <a:cs typeface="Telegraf 2"/>
                          <a:sym typeface="Telegraf 2"/>
                        </a:rPr>
                        <a:t>08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Telegraf 2 Bold"/>
                          <a:ea typeface="Telegraf 2 Bold"/>
                          <a:cs typeface="Telegraf 2 Bold"/>
                          <a:sym typeface="Telegraf 2 Bold"/>
                        </a:rPr>
                        <a:t>RoBERTa (3-Class) — The Breakthrough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8414185" y="1267521"/>
            <a:ext cx="9770281" cy="7712919"/>
          </a:xfrm>
          <a:custGeom>
            <a:avLst/>
            <a:gdLst/>
            <a:ahLst/>
            <a:cxnLst/>
            <a:rect r="r" b="b" t="t" l="l"/>
            <a:pathLst>
              <a:path h="7712919" w="9770281">
                <a:moveTo>
                  <a:pt x="0" y="0"/>
                </a:moveTo>
                <a:lnTo>
                  <a:pt x="9770281" y="0"/>
                </a:lnTo>
                <a:lnTo>
                  <a:pt x="9770281" y="7712919"/>
                </a:lnTo>
                <a:lnTo>
                  <a:pt x="0" y="77129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079367"/>
            <a:ext cx="8414185" cy="946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9"/>
              </a:lnSpc>
            </a:pP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Perform</a:t>
            </a: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ance:</a:t>
            </a:r>
          </a:p>
          <a:p>
            <a:pPr algn="l" marL="589572" indent="-294786" lvl="1">
              <a:lnSpc>
                <a:spcPts val="3549"/>
              </a:lnSpc>
              <a:buFont typeface="Arial"/>
              <a:buChar char="•"/>
            </a:pP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Accuracy: 74.64%</a:t>
            </a:r>
          </a:p>
          <a:p>
            <a:pPr algn="l" marL="589572" indent="-294786" lvl="1">
              <a:lnSpc>
                <a:spcPts val="3549"/>
              </a:lnSpc>
              <a:buFont typeface="Arial"/>
              <a:buChar char="•"/>
            </a:pP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Pr</a:t>
            </a: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ecision: 74.41%</a:t>
            </a:r>
          </a:p>
          <a:p>
            <a:pPr algn="l" marL="589572" indent="-294786" lvl="1">
              <a:lnSpc>
                <a:spcPts val="3549"/>
              </a:lnSpc>
              <a:buFont typeface="Arial"/>
              <a:buChar char="•"/>
            </a:pP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Recall: 74.64%</a:t>
            </a:r>
          </a:p>
          <a:p>
            <a:pPr algn="l" marL="589572" indent="-294786" lvl="1">
              <a:lnSpc>
                <a:spcPts val="3549"/>
              </a:lnSpc>
              <a:buFont typeface="Arial"/>
              <a:buChar char="•"/>
            </a:pP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F1-sco</a:t>
            </a: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</a:t>
            </a: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e: 74.39%</a:t>
            </a:r>
          </a:p>
          <a:p>
            <a:pPr algn="l">
              <a:lnSpc>
                <a:spcPts val="3549"/>
              </a:lnSpc>
            </a:pP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Why RoBERTa for the 3-Class Model?</a:t>
            </a:r>
          </a:p>
          <a:p>
            <a:pPr algn="l" marL="589572" indent="-294786" lvl="1">
              <a:lnSpc>
                <a:spcPts val="3549"/>
              </a:lnSpc>
              <a:buFont typeface="Arial"/>
              <a:buChar char="•"/>
            </a:pP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RoBERTa performs better than DistilBERT on coarse-grained emotion tasks (Positive/Negative/Neutral).</a:t>
            </a:r>
          </a:p>
          <a:p>
            <a:pPr algn="l" marL="589572" indent="-294786" lvl="1">
              <a:lnSpc>
                <a:spcPts val="3549"/>
              </a:lnSpc>
              <a:buFont typeface="Arial"/>
              <a:buChar char="•"/>
            </a:pP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Its stronger contextual encoding captures subtle cues in short Reddit-style text more effectively.</a:t>
            </a:r>
          </a:p>
          <a:p>
            <a:pPr algn="l" marL="589572" indent="-294786" lvl="1">
              <a:lnSpc>
                <a:spcPts val="3549"/>
              </a:lnSpc>
              <a:buFont typeface="Arial"/>
              <a:buChar char="•"/>
            </a:pP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With fewer classes, RoBERTa’s larger architecture becomes an advantage, improving overall accuracy and stability.</a:t>
            </a:r>
          </a:p>
          <a:p>
            <a:pPr algn="l">
              <a:lnSpc>
                <a:spcPts val="3549"/>
              </a:lnSpc>
            </a:pP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K</a:t>
            </a: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ey Improvements:</a:t>
            </a:r>
          </a:p>
          <a:p>
            <a:pPr algn="l" marL="589572" indent="-294786" lvl="1">
              <a:lnSpc>
                <a:spcPts val="3549"/>
              </a:lnSpc>
              <a:buFont typeface="Arial"/>
              <a:buChar char="•"/>
            </a:pP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+16.7% accuracy vs. RoBERTa-7-class</a:t>
            </a:r>
          </a:p>
          <a:p>
            <a:pPr algn="l" marL="589572" indent="-294786" lvl="1">
              <a:lnSpc>
                <a:spcPts val="3549"/>
              </a:lnSpc>
              <a:buFont typeface="Arial"/>
              <a:buChar char="•"/>
            </a:pP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B</a:t>
            </a: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alanced ac</a:t>
            </a: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ross a</a:t>
            </a: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ll metrics</a:t>
            </a:r>
          </a:p>
          <a:p>
            <a:pPr algn="l" marL="589572" indent="-294786" lvl="1">
              <a:lnSpc>
                <a:spcPts val="3549"/>
              </a:lnSpc>
              <a:buFont typeface="Arial"/>
              <a:buChar char="•"/>
            </a:pP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Robu</a:t>
            </a:r>
            <a:r>
              <a:rPr lang="en-US" sz="2730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st, stable predictions suitable for deployment</a:t>
            </a:r>
          </a:p>
          <a:p>
            <a:pPr algn="l">
              <a:lnSpc>
                <a:spcPts val="354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85725"/>
          <a:ext cx="9500630" cy="942975"/>
        </p:xfrm>
        <a:graphic>
          <a:graphicData uri="http://schemas.openxmlformats.org/drawingml/2006/table">
            <a:tbl>
              <a:tblPr/>
              <a:tblGrid>
                <a:gridCol w="1178565"/>
                <a:gridCol w="8322065"/>
              </a:tblGrid>
              <a:tr h="872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Telegraf 2"/>
                          <a:ea typeface="Telegraf 2"/>
                          <a:cs typeface="Telegraf 2"/>
                          <a:sym typeface="Telegraf 2"/>
                        </a:rPr>
                        <a:t>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Telegraf 2 Bold"/>
                          <a:ea typeface="Telegraf 2 Bold"/>
                          <a:cs typeface="Telegraf 2 Bold"/>
                          <a:sym typeface="Telegraf 2 Bold"/>
                        </a:rPr>
                        <a:t>Comparing the Journey — All Models at a Glance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657116" y="1211110"/>
            <a:ext cx="6028227" cy="4588987"/>
          </a:xfrm>
          <a:custGeom>
            <a:avLst/>
            <a:gdLst/>
            <a:ahLst/>
            <a:cxnLst/>
            <a:rect r="r" b="b" t="t" l="l"/>
            <a:pathLst>
              <a:path h="4588987" w="6028227">
                <a:moveTo>
                  <a:pt x="0" y="0"/>
                </a:moveTo>
                <a:lnTo>
                  <a:pt x="6028226" y="0"/>
                </a:lnTo>
                <a:lnTo>
                  <a:pt x="6028226" y="4588987"/>
                </a:lnTo>
                <a:lnTo>
                  <a:pt x="0" y="458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38391" y="340139"/>
            <a:ext cx="6796236" cy="5916167"/>
          </a:xfrm>
          <a:custGeom>
            <a:avLst/>
            <a:gdLst/>
            <a:ahLst/>
            <a:cxnLst/>
            <a:rect r="r" b="b" t="t" l="l"/>
            <a:pathLst>
              <a:path h="5916167" w="6796236">
                <a:moveTo>
                  <a:pt x="0" y="0"/>
                </a:moveTo>
                <a:lnTo>
                  <a:pt x="6796235" y="0"/>
                </a:lnTo>
                <a:lnTo>
                  <a:pt x="6796235" y="5916167"/>
                </a:lnTo>
                <a:lnTo>
                  <a:pt x="0" y="5916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941" r="0" b="-793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7116" y="5982507"/>
            <a:ext cx="8100423" cy="4143945"/>
          </a:xfrm>
          <a:custGeom>
            <a:avLst/>
            <a:gdLst/>
            <a:ahLst/>
            <a:cxnLst/>
            <a:rect r="r" b="b" t="t" l="l"/>
            <a:pathLst>
              <a:path h="4143945" w="8100423">
                <a:moveTo>
                  <a:pt x="0" y="0"/>
                </a:moveTo>
                <a:lnTo>
                  <a:pt x="8100423" y="0"/>
                </a:lnTo>
                <a:lnTo>
                  <a:pt x="8100423" y="4143945"/>
                </a:lnTo>
                <a:lnTo>
                  <a:pt x="0" y="41439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00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92224" y="6812093"/>
            <a:ext cx="9158877" cy="2446207"/>
          </a:xfrm>
          <a:custGeom>
            <a:avLst/>
            <a:gdLst/>
            <a:ahLst/>
            <a:cxnLst/>
            <a:rect r="r" b="b" t="t" l="l"/>
            <a:pathLst>
              <a:path h="2446207" w="9158877">
                <a:moveTo>
                  <a:pt x="0" y="0"/>
                </a:moveTo>
                <a:lnTo>
                  <a:pt x="9158877" y="0"/>
                </a:lnTo>
                <a:lnTo>
                  <a:pt x="9158877" y="2446207"/>
                </a:lnTo>
                <a:lnTo>
                  <a:pt x="0" y="24462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0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85725"/>
          <a:ext cx="9089932" cy="942975"/>
        </p:xfrm>
        <a:graphic>
          <a:graphicData uri="http://schemas.openxmlformats.org/drawingml/2006/table">
            <a:tbl>
              <a:tblPr/>
              <a:tblGrid>
                <a:gridCol w="1178833"/>
                <a:gridCol w="7911098"/>
              </a:tblGrid>
              <a:tr h="872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Telegraf 2"/>
                          <a:ea typeface="Telegraf 2"/>
                          <a:cs typeface="Telegraf 2"/>
                          <a:sym typeface="Telegraf 2"/>
                        </a:rPr>
                        <a:t>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Telegraf 2 Bold"/>
                          <a:ea typeface="Telegraf 2 Bold"/>
                          <a:cs typeface="Telegraf 2 Bold"/>
                          <a:sym typeface="Telegraf 2 Bold"/>
                        </a:rPr>
                        <a:t>MoodMirror UI — Bringing the Model to Life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48551" y="1735532"/>
            <a:ext cx="17390897" cy="7544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6"/>
              </a:lnSpc>
            </a:pPr>
            <a:r>
              <a:rPr lang="en-US" sz="3958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Tech</a:t>
            </a:r>
            <a:r>
              <a:rPr lang="en-US" sz="3958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 Stack:</a:t>
            </a:r>
          </a:p>
          <a:p>
            <a:pPr algn="l" marL="854739" indent="-427369" lvl="1">
              <a:lnSpc>
                <a:spcPts val="5146"/>
              </a:lnSpc>
              <a:buFont typeface="Arial"/>
              <a:buChar char="•"/>
            </a:pPr>
            <a:r>
              <a:rPr lang="en-US" sz="3958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Backend: RoBERTa 3-class model (PyTorch)</a:t>
            </a:r>
          </a:p>
          <a:p>
            <a:pPr algn="l" marL="854739" indent="-427369" lvl="1">
              <a:lnSpc>
                <a:spcPts val="5146"/>
              </a:lnSpc>
              <a:buFont typeface="Arial"/>
              <a:buChar char="•"/>
            </a:pPr>
            <a:r>
              <a:rPr lang="en-US" sz="3958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Frontend: Stre</a:t>
            </a:r>
            <a:r>
              <a:rPr lang="en-US" sz="3958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amlit</a:t>
            </a:r>
          </a:p>
          <a:p>
            <a:pPr algn="l" marL="854739" indent="-427369" lvl="1">
              <a:lnSpc>
                <a:spcPts val="5146"/>
              </a:lnSpc>
              <a:buFont typeface="Arial"/>
              <a:buChar char="•"/>
            </a:pPr>
            <a:r>
              <a:rPr lang="en-US" sz="3958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Deployment: Localhost interactive demo (emotion_app.py)</a:t>
            </a:r>
          </a:p>
          <a:p>
            <a:pPr algn="l">
              <a:lnSpc>
                <a:spcPts val="5146"/>
              </a:lnSpc>
            </a:pPr>
            <a:r>
              <a:rPr lang="en-US" sz="3958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UI Featu</a:t>
            </a:r>
            <a:r>
              <a:rPr lang="en-US" sz="3958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res:</a:t>
            </a:r>
          </a:p>
          <a:p>
            <a:pPr algn="l" marL="854739" indent="-427369" lvl="1">
              <a:lnSpc>
                <a:spcPts val="5146"/>
              </a:lnSpc>
              <a:buFont typeface="Arial"/>
              <a:buChar char="•"/>
            </a:pPr>
            <a:r>
              <a:rPr lang="en-US" sz="3958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Rea</a:t>
            </a:r>
            <a:r>
              <a:rPr lang="en-US" sz="3958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l-time text-based emotion detection</a:t>
            </a:r>
          </a:p>
          <a:p>
            <a:pPr algn="l" marL="854739" indent="-427369" lvl="1">
              <a:lnSpc>
                <a:spcPts val="5146"/>
              </a:lnSpc>
              <a:buFont typeface="Arial"/>
              <a:buChar char="•"/>
            </a:pPr>
            <a:r>
              <a:rPr lang="en-US" sz="3958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Batch input supp</a:t>
            </a:r>
            <a:r>
              <a:rPr lang="en-US" sz="3958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ort (up to 4 </a:t>
            </a:r>
            <a:r>
              <a:rPr lang="en-US" sz="3958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sentences)</a:t>
            </a:r>
          </a:p>
          <a:p>
            <a:pPr algn="l" marL="854739" indent="-427369" lvl="1">
              <a:lnSpc>
                <a:spcPts val="5146"/>
              </a:lnSpc>
              <a:buFont typeface="Arial"/>
              <a:buChar char="•"/>
            </a:pPr>
            <a:r>
              <a:rPr lang="en-US" sz="3958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Confidence scores displayed for each prediction</a:t>
            </a:r>
          </a:p>
          <a:p>
            <a:pPr algn="l" marL="854739" indent="-427369" lvl="1">
              <a:lnSpc>
                <a:spcPts val="5146"/>
              </a:lnSpc>
              <a:buFont typeface="Arial"/>
              <a:buChar char="•"/>
            </a:pPr>
            <a:r>
              <a:rPr lang="en-US" sz="3958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Color-coded output (Positive / Negative / Neutral)</a:t>
            </a:r>
          </a:p>
          <a:p>
            <a:pPr algn="l" marL="854739" indent="-427369" lvl="1">
              <a:lnSpc>
                <a:spcPts val="5146"/>
              </a:lnSpc>
              <a:buFont typeface="Arial"/>
              <a:buChar char="•"/>
            </a:pPr>
            <a:r>
              <a:rPr lang="en-US" sz="3958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Interactive emotion distribution visualization</a:t>
            </a:r>
          </a:p>
          <a:p>
            <a:pPr algn="ctr">
              <a:lnSpc>
                <a:spcPts val="8266"/>
              </a:lnSpc>
            </a:pPr>
            <a:r>
              <a:rPr lang="en-US" sz="6358">
                <a:solidFill>
                  <a:srgbClr val="FF3131"/>
                </a:solidFill>
                <a:latin typeface="Archivo Black"/>
                <a:ea typeface="Archivo Black"/>
                <a:cs typeface="Archivo Black"/>
                <a:sym typeface="Archivo Black"/>
              </a:rPr>
              <a:t> LIVE DEMO!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0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85725"/>
          <a:ext cx="8346763" cy="942975"/>
        </p:xfrm>
        <a:graphic>
          <a:graphicData uri="http://schemas.openxmlformats.org/drawingml/2006/table">
            <a:tbl>
              <a:tblPr/>
              <a:tblGrid>
                <a:gridCol w="1179386"/>
                <a:gridCol w="7167377"/>
              </a:tblGrid>
              <a:tr h="872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Telegraf 2"/>
                          <a:ea typeface="Telegraf 2"/>
                          <a:cs typeface="Telegraf 2"/>
                          <a:sym typeface="Telegraf 2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Telegraf 2 Bold"/>
                          <a:ea typeface="Telegraf 2 Bold"/>
                          <a:cs typeface="Telegraf 2 Bold"/>
                          <a:sym typeface="Telegraf 2 Bold"/>
                        </a:rPr>
                        <a:t>Project Summary — What We Achieved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2B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971550"/>
            <a:ext cx="15971153" cy="9169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9"/>
              </a:lnSpc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What We Learned</a:t>
            </a:r>
          </a:p>
          <a:p>
            <a:pPr algn="l" marL="506495" indent="-253248" lvl="1">
              <a:lnSpc>
                <a:spcPts val="3049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Worked with GoEmotions (54K samples)</a:t>
            </a:r>
          </a:p>
          <a:p>
            <a:pPr algn="l" marL="506495" indent="-253248" lvl="1">
              <a:lnSpc>
                <a:spcPts val="3049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Reduced classes (27 → 7 → 3) for better performance</a:t>
            </a:r>
          </a:p>
          <a:p>
            <a:pPr algn="l" marL="506495" indent="-253248" lvl="1">
              <a:lnSpc>
                <a:spcPts val="3049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Built strong preprocessing pipeline (text cleaning, emoji removal, Reddit patterns)</a:t>
            </a:r>
          </a:p>
          <a:p>
            <a:pPr algn="l" marL="506495" indent="-253248" lvl="1">
              <a:lnSpc>
                <a:spcPts val="3049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Handled severe imbalance (40:1) using overs</a:t>
            </a: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ampling + undersampling</a:t>
            </a:r>
          </a:p>
          <a:p>
            <a:pPr algn="l" marL="506495" indent="-253248" lvl="1">
              <a:lnSpc>
                <a:spcPts val="3049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Developed baseline (Logistic Regression) and transformer models</a:t>
            </a:r>
          </a:p>
          <a:p>
            <a:pPr algn="l" marL="506495" indent="-253248" lvl="1">
              <a:lnSpc>
                <a:spcPts val="3049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Compared DistilBERT vs. RoBERTa across metrics</a:t>
            </a:r>
          </a:p>
          <a:p>
            <a:pPr algn="l" marL="506495" indent="-253248" lvl="1">
              <a:lnSpc>
                <a:spcPts val="3049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Built a working Streamlit demo (MoodMirror UI)</a:t>
            </a:r>
          </a:p>
          <a:p>
            <a:pPr algn="l">
              <a:lnSpc>
                <a:spcPts val="3049"/>
              </a:lnSpc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Key Results</a:t>
            </a:r>
          </a:p>
          <a:p>
            <a:pPr algn="l" marL="506495" indent="-253248" lvl="1">
              <a:lnSpc>
                <a:spcPts val="3049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Logistic Regression (7-class): 53.66%</a:t>
            </a:r>
          </a:p>
          <a:p>
            <a:pPr algn="l" marL="506495" indent="-253248" lvl="1">
              <a:lnSpc>
                <a:spcPts val="3049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DistilBERT (7-class): 63.06%</a:t>
            </a:r>
          </a:p>
          <a:p>
            <a:pPr algn="l" marL="506495" indent="-253248" lvl="1">
              <a:lnSpc>
                <a:spcPts val="3049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RoBERTa</a:t>
            </a: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 (7-clas</a:t>
            </a: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s): 57.94%</a:t>
            </a:r>
          </a:p>
          <a:p>
            <a:pPr algn="l" marL="506495" indent="-253248" lvl="1">
              <a:lnSpc>
                <a:spcPts val="3049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RoBERTa (3-c</a:t>
            </a: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lass): 74.64% → Final Model</a:t>
            </a:r>
          </a:p>
          <a:p>
            <a:pPr algn="l">
              <a:lnSpc>
                <a:spcPts val="3049"/>
              </a:lnSpc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Main Insights</a:t>
            </a:r>
          </a:p>
          <a:p>
            <a:pPr algn="l" marL="506495" indent="-253248" lvl="1">
              <a:lnSpc>
                <a:spcPts val="3049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Transformers outperform classical ML</a:t>
            </a:r>
          </a:p>
          <a:p>
            <a:pPr algn="l" marL="506495" indent="-253248" lvl="1">
              <a:lnSpc>
                <a:spcPts val="3049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Fewer classes = higher accuracy and more stable predictions</a:t>
            </a:r>
          </a:p>
          <a:p>
            <a:pPr algn="l" marL="506495" indent="-253248" lvl="1">
              <a:lnSpc>
                <a:spcPts val="3049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Preprocessing qu</a:t>
            </a: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ality greatly impacts transformer perf</a:t>
            </a: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ormance</a:t>
            </a:r>
          </a:p>
          <a:p>
            <a:pPr algn="l">
              <a:lnSpc>
                <a:spcPts val="3049"/>
              </a:lnSpc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Future Work</a:t>
            </a:r>
          </a:p>
          <a:p>
            <a:pPr algn="l" marL="506495" indent="-253248" lvl="1">
              <a:lnSpc>
                <a:spcPts val="3049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Upgrade models (RoBERTa-large, </a:t>
            </a: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ensembles)</a:t>
            </a:r>
          </a:p>
          <a:p>
            <a:pPr algn="l" marL="506495" indent="-253248" lvl="1">
              <a:lnSpc>
                <a:spcPts val="3049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Mult</a:t>
            </a: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i-language support &amp; context-aware emotion detection</a:t>
            </a:r>
          </a:p>
          <a:p>
            <a:pPr algn="l" marL="506495" indent="-253248" lvl="1">
              <a:lnSpc>
                <a:spcPts val="3049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Full app for students: mood tracking, trends, analytics</a:t>
            </a:r>
          </a:p>
          <a:p>
            <a:pPr algn="l" marL="506495" indent="-253248" lvl="1">
              <a:lnSpc>
                <a:spcPts val="3049"/>
              </a:lnSpc>
              <a:buFont typeface="Arial"/>
              <a:buChar char="•"/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Cloud deployment → Mobile app → Browser extension</a:t>
            </a:r>
          </a:p>
          <a:p>
            <a:pPr algn="l">
              <a:lnSpc>
                <a:spcPts val="3049"/>
              </a:lnSpc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Impact</a:t>
            </a:r>
          </a:p>
          <a:p>
            <a:pPr algn="l">
              <a:lnSpc>
                <a:spcPts val="3049"/>
              </a:lnSpc>
            </a:pP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Fou</a:t>
            </a:r>
            <a:r>
              <a:rPr lang="en-US" sz="2345">
                <a:solidFill>
                  <a:srgbClr val="FFFFFF"/>
                </a:solidFill>
                <a:latin typeface="Telegraf 1"/>
                <a:ea typeface="Telegraf 1"/>
                <a:cs typeface="Telegraf 1"/>
                <a:sym typeface="Telegraf 1"/>
              </a:rPr>
              <a:t>ndation for a complete emotion-aware student well-being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DAG6eiHdpkg</dc:identifier>
  <dcterms:modified xsi:type="dcterms:W3CDTF">2011-08-01T06:04:30Z</dcterms:modified>
  <cp:revision>1</cp:revision>
  <dc:title>MoodMirror: Understanding Emotions Through NLP</dc:title>
</cp:coreProperties>
</file>